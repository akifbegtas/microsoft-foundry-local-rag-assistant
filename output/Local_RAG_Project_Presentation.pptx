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79cc07d2cb450e" /><Relationship Type="http://schemas.openxmlformats.org/officeDocument/2006/relationships/extended-properties" Target="/docProps/app.xml" Id="R0aa6b46794ee4397" /><Relationship Type="http://schemas.openxmlformats.org/officeDocument/2006/relationships/officeDocument" Target="/ppt/presentation.xml" Id="R1962632fa92340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b1d01cb90c4001"/>
  </p:sldMasterIdLst>
  <p:notesMasterIdLst>
    <p:notesMasterId xmlns:r="http://schemas.openxmlformats.org/officeDocument/2006/relationships" r:id="Rb361871547744189"/>
  </p:notesMasterIdLst>
  <p:sldIdLst>
    <p:sldId xmlns:r="http://schemas.openxmlformats.org/officeDocument/2006/relationships" id="256" r:id="R9cf5336d8c1542d1"/>
    <p:sldId xmlns:r="http://schemas.openxmlformats.org/officeDocument/2006/relationships" id="257" r:id="R2187119899044c7d"/>
    <p:sldId xmlns:r="http://schemas.openxmlformats.org/officeDocument/2006/relationships" id="258" r:id="R3afcf9daa42c4026"/>
    <p:sldId xmlns:r="http://schemas.openxmlformats.org/officeDocument/2006/relationships" id="259" r:id="R4e1e894999b84201"/>
    <p:sldId xmlns:r="http://schemas.openxmlformats.org/officeDocument/2006/relationships" id="260" r:id="R66b0684c55da49eb"/>
    <p:sldId xmlns:r="http://schemas.openxmlformats.org/officeDocument/2006/relationships" id="261" r:id="Rceff93a9c88144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7faf7d906a44d8" /><Relationship Type="http://schemas.openxmlformats.org/officeDocument/2006/relationships/slideMaster" Target="/ppt/slideMasters/slideMaster1.xml" Id="Rb5b1d01cb90c4001" /><Relationship Type="http://schemas.openxmlformats.org/officeDocument/2006/relationships/notesMaster" Target="/ppt/notesMasters/notesMaster1.xml" Id="Rb361871547744189" /><Relationship Type="http://schemas.openxmlformats.org/officeDocument/2006/relationships/presProps" Target="/ppt/presProps.xml" Id="R3f827bf584474b12" /><Relationship Type="http://schemas.openxmlformats.org/officeDocument/2006/relationships/tableStyles" Target="/ppt/tableStyles.xml" Id="Rbcc4038af7ed4cde" /><Relationship Type="http://schemas.openxmlformats.org/officeDocument/2006/relationships/slide" Target="/ppt/slides/slide1.xml" Id="R9cf5336d8c1542d1" /><Relationship Type="http://schemas.openxmlformats.org/officeDocument/2006/relationships/slide" Target="/ppt/slides/slide2.xml" Id="R2187119899044c7d" /><Relationship Type="http://schemas.openxmlformats.org/officeDocument/2006/relationships/slide" Target="/ppt/slides/slide3.xml" Id="R3afcf9daa42c4026" /><Relationship Type="http://schemas.openxmlformats.org/officeDocument/2006/relationships/slide" Target="/ppt/slides/slide4.xml" Id="R4e1e894999b84201" /><Relationship Type="http://schemas.openxmlformats.org/officeDocument/2006/relationships/slide" Target="/ppt/slides/slide5.xml" Id="R66b0684c55da49eb" /><Relationship Type="http://schemas.openxmlformats.org/officeDocument/2006/relationships/slide" Target="/ppt/slides/slide6.xml" Id="Rceff93a9c88144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cae4fa172843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10761c2fdf406c" /><Relationship Type="http://schemas.openxmlformats.org/officeDocument/2006/relationships/notesMaster" Target="/ppt/notesMasters/notesMaster1.xml" Id="Rbd9d1fb18eb142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aceb8dc1584904" /><Relationship Type="http://schemas.openxmlformats.org/officeDocument/2006/relationships/notesMaster" Target="/ppt/notesMasters/notesMaster1.xml" Id="Rb7b103b2dd054c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9e55e65bce4084" /><Relationship Type="http://schemas.openxmlformats.org/officeDocument/2006/relationships/notesMaster" Target="/ppt/notesMasters/notesMaster1.xml" Id="R58690342869743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1c8239ceab4b5c" /><Relationship Type="http://schemas.openxmlformats.org/officeDocument/2006/relationships/notesMaster" Target="/ppt/notesMasters/notesMaster1.xml" Id="R41a287d913354c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901f8105714451" /><Relationship Type="http://schemas.openxmlformats.org/officeDocument/2006/relationships/notesMaster" Target="/ppt/notesMasters/notesMaster1.xml" Id="Rfe714f880b1f4c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1abc9fb0d747f8" /><Relationship Type="http://schemas.openxmlformats.org/officeDocument/2006/relationships/notesMaster" Target="/ppt/notesMasters/notesMaster1.xml" Id="Rbb90ba88d34e4f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proje, Microsoft Foundry Local kullanarak belgelerden kaynaklı cevap üreten yerel bir RAG asistanıdır.</a:t>
            </a:r>
          </a:p>
          <a:p xmlns:a="http://schemas.openxmlformats.org/drawingml/2006/main">
            <a:r>
              <a:t>Amacım yalnızca model çalıştırmak değil; belge alma, arama, cevap üretme ve kaynak gösterme zincirini uçtan uca tamamlamaktı.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brief: documents/summer-school-foundry-local-plan.pdf</a:t>
            </a:r>
          </a:p>
          <a:p xmlns:a="http://schemas.openxmlformats.org/drawingml/2006/main">
            <a:r>
              <a:t>- https://learn.microsoft.com/en-us/azure/foundry-local/get-started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Problem, uzun PDF'lerde cevabı ve kanıtı birlikte bulmanın zahmetli olmasıdır.</a:t>
            </a:r>
          </a:p>
          <a:p xmlns:a="http://schemas.openxmlformats.org/drawingml/2006/main">
            <a:r>
              <a:t>RAG yaklaşımı önce ilgili belge parçalarını getirir, sonra modeli bu bağlama göre cevap üretmeye zorlar.</a:t>
            </a:r>
          </a:p>
          <a:p xmlns:a="http://schemas.openxmlformats.org/drawingml/2006/main">
            <a:r>
              <a:t>Foundry Local sayesinde hem arama hem üretim cihaz içinde kalır.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brief: documents/summer-school-foundry-local-plan.pdf</a:t>
            </a:r>
          </a:p>
          <a:p xmlns:a="http://schemas.openxmlformats.org/drawingml/2006/main">
            <a:r>
              <a:t>- https://learn.microsoft.com/en-us/azure/foundry-local/tutorials/tutorial-build-rag-app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Akış üç bölümden oluşuyor.</a:t>
            </a:r>
          </a:p>
          <a:p xmlns:a="http://schemas.openxmlformats.org/drawingml/2006/main">
            <a:r>
              <a:t>İlk aşamada belge parçalanıyor, yerel embedding modeliyle vektörleştiriliyor ve SQLite'a yazılıyor.</a:t>
            </a:r>
          </a:p>
          <a:p xmlns:a="http://schemas.openxmlformats.org/drawingml/2006/main">
            <a:r>
              <a:t>Soru geldiğinde embedding benzerliği ile kelime ve hafta/faz sinyallerini birleştiren hibrit arama çalışıyor.</a:t>
            </a:r>
          </a:p>
          <a:p xmlns:a="http://schemas.openxmlformats.org/drawingml/2006/main">
            <a:r>
              <a:t>Seçilen iki parça Phi-3.5 Mini'ye bağlam olarak veriliyor; cevap ve sayfa kaynakları birlikte dönüyor.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code: src/local_rag/</a:t>
            </a:r>
          </a:p>
          <a:p xmlns:a="http://schemas.openxmlformats.org/drawingml/2006/main">
            <a:r>
              <a:t>- https://learn.microsoft.com/en-us/azure/foundry-local/how-to/how-to-generate-embeddings</a:t>
            </a:r>
          </a:p>
          <a:p xmlns:a="http://schemas.openxmlformats.org/drawingml/2006/main">
            <a:r>
              <a:t>- https://learn.microsoft.com/en-us/azure/foundry-local/tutorials/tutorial-build-rag-app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Doğrulama için gerçek proje planını kullandım ve 32 parça indeksledim.</a:t>
            </a:r>
          </a:p>
          <a:p xmlns:a="http://schemas.openxmlformats.org/drawingml/2006/main">
            <a:r>
              <a:t>Cevap, çeviri ve embedding görevleri için üç model cihazda çalışıyor.</a:t>
            </a:r>
          </a:p>
          <a:p xmlns:a="http://schemas.openxmlformats.org/drawingml/2006/main">
            <a:r>
              <a:t>Belge işleme ve sorgu normalizasyonu dahil altı birim testinin tamamı geçiyor.</a:t>
            </a:r>
          </a:p>
          <a:p xmlns:a="http://schemas.openxmlformats.org/drawingml/2006/main">
            <a:r>
              <a:t>Ayrıca Streamlit arayüzünde canlı soru sorarak sonuç ve kaynak sayfalarını uçtan uca kontrol ettim.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SQLite index: data/knowledge.db</a:t>
            </a:r>
          </a:p>
          <a:p xmlns:a="http://schemas.openxmlformats.org/drawingml/2006/main">
            <a:r>
              <a:t>- Local test suite: tests/</a:t>
            </a:r>
          </a:p>
          <a:p xmlns:a="http://schemas.openxmlformats.org/drawingml/2006/main">
            <a:r>
              <a:t>- Local verification screenshot: output/app-answer.png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ekran gerçek çalışan Streamlit arayüzünden alındı.</a:t>
            </a:r>
          </a:p>
          <a:p xmlns:a="http://schemas.openxmlformats.org/drawingml/2006/main">
            <a:r>
              <a:t>Kullanıcı Türkçe soruyu yazıyor. Sistem kaynak belgeden ilgili parçaları getirip İngilizce kısa cevabı üretiyor.</a:t>
            </a:r>
          </a:p>
          <a:p xmlns:a="http://schemas.openxmlformats.org/drawingml/2006/main">
            <a:r>
              <a:t>Cevabın altında kullanılan dosya, sayfa ve ilgi puanı gösteriliyor; böylece sonuç denetlenebilir hale geliyor.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application screenshot: output/app-sources.png</a:t>
            </a:r>
          </a:p>
          <a:p xmlns:a="http://schemas.openxmlformats.org/drawingml/2006/main">
            <a:r>
              <a:t>- Local application source: 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Sonuç olarak proje hedefi tamamlandı: yerel model, embedding, SQLite, retrieval ve arayüz tek bir çalışan üründe birleşti.</a:t>
            </a:r>
          </a:p>
          <a:p xmlns:a="http://schemas.openxmlformats.org/drawingml/2006/main">
            <a:r>
              <a:t>En önemli kazanım, model cevabını belge kanıtıyla birlikte sunabilmek.</a:t>
            </a:r>
          </a:p>
          <a:p xmlns:a="http://schemas.openxmlformats.org/drawingml/2006/main">
            <a:r>
              <a:t>Sonraki adımlar belge yükleme, Türkçe çıktı kalitesi ve sohbet geçmişi; mevcut sürüm ise GitHub ve bitirme demosu için hazır.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report: PROJECT_REPORT.md</a:t>
            </a:r>
          </a:p>
          <a:p xmlns:a="http://schemas.openxmlformats.org/drawingml/2006/main">
            <a:r>
              <a:t>- Local repository README: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e97dee8664c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a3487eb79e4efc" /><Relationship Type="http://schemas.openxmlformats.org/officeDocument/2006/relationships/slideLayout" Target="/ppt/slideLayouts/slideLayout1.xml" Id="R55a8e1de88bb4c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a8e1de88bb4c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209c6776a4251" /><Relationship Type="http://schemas.openxmlformats.org/officeDocument/2006/relationships/notesSlide" Target="/ppt/notesSlides/notesSlide1.xml" Id="Rb2f0ecaff8b5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4611347e74314" /><Relationship Type="http://schemas.openxmlformats.org/officeDocument/2006/relationships/notesSlide" Target="/ppt/notesSlides/notesSlide2.xml" Id="R86ab83ec59e942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06fb6be44479a" /><Relationship Type="http://schemas.openxmlformats.org/officeDocument/2006/relationships/notesSlide" Target="/ppt/notesSlides/notesSlide3.xml" Id="R6880c5ce6eb34c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4a92205d94b3a" /><Relationship Type="http://schemas.openxmlformats.org/officeDocument/2006/relationships/notesSlide" Target="/ppt/notesSlides/notesSlide4.xml" Id="R5758f7b6525742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06477040d4a08" /><Relationship Type="http://schemas.openxmlformats.org/officeDocument/2006/relationships/image" Target="/ppt/media/image.jpeg" Id="R5fd9c455783740cb" /><Relationship Type="http://schemas.openxmlformats.org/officeDocument/2006/relationships/notesSlide" Target="/ppt/notesSlides/notesSlide5.xml" Id="R2d0194607d7140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ad891ee814489" /><Relationship Type="http://schemas.openxmlformats.org/officeDocument/2006/relationships/notesSlide" Target="/ppt/notesSlides/notesSlide6.xml" Id="R72addbadf03646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8E1693A-8469-4F45-9115-66D01F67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52C7042-6721-496C-9AC6-F5AD4F25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MICROSOFT FOUNDRY LOCAL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B6A0F178-27A3-46B5-A78F-FBE6BDFC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762000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RAG
Assistant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656529B-B925-462C-8292-441F5ECE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809625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Kaynak gösteren, tamamen cihaz içinde çalışan belge soru-cevap sistemi</a:t>
            </a:r>
          </a:p>
        </p:txBody>
      </p:sp>
      <p:sp>
        <p:nvSpPr>
          <p:cNvPr id="5" name="deck-meta">
            <a:extLst xmlns:a="http://schemas.openxmlformats.org/drawingml/2006/main">
              <a:ext uri="{FF2B5EF4-FFF2-40B4-BE49-F238E27FC236}">
                <a16:creationId xmlns:a16="http://schemas.microsoft.com/office/drawing/2014/main" id="{140FA5ED-A893-451D-A6AE-4F6DF562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438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5 dakikalık bitirme sunumu</a:t>
            </a:r>
          </a:p>
        </p:txBody>
      </p:sp>
    </p:spTree>
    <p:extLst>
      <p:ext uri="{BB962C8B-B14F-4D97-AF65-F5344CB8AC3E}">
        <p14:creationId xmlns:p14="http://schemas.microsoft.com/office/powerpoint/2010/main" val="1947878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4F942CF4-21E0-40D0-9B69-4DBBFBA3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Uzun belgede cevap aramak yerine, kaynağıyla soruyoruz</a:t>
            </a:r>
          </a:p>
        </p:txBody>
      </p:sp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DC9C7D51-7BFE-4B65-93E1-838E5D7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RAG, dil modelinin cevabını belgeden getirilen gerçek içerikle sınırlar; kullanıcı da hangi sayfanın kullanıldığını görür.</a:t>
            </a:r>
          </a:p>
        </p:txBody>
      </p:sp>
      <p:sp>
        <p:nvSpPr>
          <p:cNvPr id="3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65A32E32-DF09-4EFB-9570-0169931A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4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BE0DB955-FBCD-4027-A836-9082CE6B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SORUN</a:t>
            </a:r>
          </a:p>
        </p:txBody>
      </p:sp>
      <p:sp>
        <p:nvSpPr>
          <p:cNvPr id="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25F7E150-3AF9-40A7-962E-B176A86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81425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Sayfalar arasında elle arama</a:t>
            </a:r>
          </a:p>
        </p:txBody>
      </p:sp>
      <p:sp>
        <p:nvSpPr>
          <p:cNvPr id="6" name="problem-detail">
            <a:extLst xmlns:a="http://schemas.openxmlformats.org/drawingml/2006/main">
              <a:ext uri="{FF2B5EF4-FFF2-40B4-BE49-F238E27FC236}">
                <a16:creationId xmlns:a16="http://schemas.microsoft.com/office/drawing/2014/main" id="{48BDAFA2-4EBE-4381-AF83-E350BAA2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476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Yavaş · kaynağı belirsiz · buluta bağımlı</a:t>
            </a:r>
          </a:p>
        </p:txBody>
      </p:sp>
      <p:sp>
        <p:nvSpPr>
          <p:cNvPr id="7" name="solution-panel">
            <a:extLst xmlns:a="http://schemas.openxmlformats.org/drawingml/2006/main">
              <a:ext uri="{FF2B5EF4-FFF2-40B4-BE49-F238E27FC236}">
                <a16:creationId xmlns:a16="http://schemas.microsoft.com/office/drawing/2014/main" id="{FD94915C-9645-4B50-8F6D-E30E2CB2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FF4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507F739B-DDF3-43DC-B0F6-7960494F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369A1"/>
                </a:solidFill>
                <a:latin typeface="Helvetica Neue"/>
                <a:ea typeface="Helvetica Neue"/>
                <a:cs typeface="Helvetica Neue"/>
              </a:defRPr>
            </a:pPr>
            <a:r>
              <a:t>ÇÖZÜM</a:t>
            </a:r>
          </a:p>
        </p:txBody>
      </p:sp>
      <p:sp>
        <p:nvSpPr>
          <p:cNvPr id="9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5F37B0EB-BC14-4C8A-AACC-5B64498F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81425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Yerel, kaynaklı soru-cevap</a:t>
            </a:r>
          </a:p>
        </p:txBody>
      </p:sp>
      <p:sp>
        <p:nvSpPr>
          <p:cNvPr id="10" name="solution-detail">
            <a:extLst xmlns:a="http://schemas.openxmlformats.org/drawingml/2006/main">
              <a:ext uri="{FF2B5EF4-FFF2-40B4-BE49-F238E27FC236}">
                <a16:creationId xmlns:a16="http://schemas.microsoft.com/office/drawing/2014/main" id="{ACADA0DA-8375-49BC-BAD9-9D6253A9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4857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Hızlı erişim · sayfa kanıtı · cihaz içi gizlilik</a:t>
            </a:r>
          </a:p>
        </p:txBody>
      </p:sp>
      <p:sp>
        <p:nvSpPr>
          <p:cNvPr id="11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BB2C7CA6-A45B-40A3-8459-463D08A9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2986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5797A183-07D3-4593-87FE-9023B9C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0490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Üç aşama, tek cihaz: hazırla → bul → cevapla</a:t>
            </a:r>
          </a:p>
        </p:txBody>
      </p:sp>
      <p:cxnSp>
        <p:nvCxnSpPr>
          <p:cNvPr id="17" name="flow-line"/>
          <p:cNvCxnSpPr/>
          <p:nvPr/>
        </p:nvCxnSpPr>
        <p:spPr>
          <a:xfrm xmlns:a="http://schemas.openxmlformats.org/drawingml/2006/main">
            <a:off x="400050" y="33337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0000"/>
            </a:solidFill>
            <a:prstDash val="solid"/>
          </a:ln>
        </p:spPr>
      </p:cxnSp>
      <p:sp>
        <p:nvSpPr>
          <p:cNvPr id="3" name="flow-dot-1">
            <a:extLst xmlns:a="http://schemas.openxmlformats.org/drawingml/2006/main">
              <a:ext uri="{FF2B5EF4-FFF2-40B4-BE49-F238E27FC236}">
                <a16:creationId xmlns:a16="http://schemas.microsoft.com/office/drawing/2014/main" id="{5C8FB4ED-F5AE-41EB-A5BF-E38604F9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2CEFA6EC-219F-4370-A653-BC0DA14D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33675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01 · HAZIRLA</a:t>
            </a:r>
          </a:p>
        </p:txBody>
      </p:sp>
      <p:sp>
        <p:nvSpPr>
          <p:cNvPr id="5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7008011F-1F3B-4304-B6C8-E0DE7DC2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3143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Belgeyi indeksle</a:t>
            </a:r>
          </a:p>
        </p:txBody>
      </p:sp>
      <p:sp>
        <p:nvSpPr>
          <p:cNvPr id="6" name="flow-body-1">
            <a:extLst xmlns:a="http://schemas.openxmlformats.org/drawingml/2006/main">
              <a:ext uri="{FF2B5EF4-FFF2-40B4-BE49-F238E27FC236}">
                <a16:creationId xmlns:a16="http://schemas.microsoft.com/office/drawing/2014/main" id="{23A97024-C4C5-43D0-8C7A-45AF12E0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3143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PDF → parçalar → yerel embedding → SQLite</a:t>
            </a:r>
          </a:p>
        </p:txBody>
      </p:sp>
      <p:sp>
        <p:nvSpPr>
          <p:cNvPr id="7" name="flow-dot-2">
            <a:extLst xmlns:a="http://schemas.openxmlformats.org/drawingml/2006/main">
              <a:ext uri="{FF2B5EF4-FFF2-40B4-BE49-F238E27FC236}">
                <a16:creationId xmlns:a16="http://schemas.microsoft.com/office/drawing/2014/main" id="{B5D05C30-ED67-498B-9CFC-57E7276E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8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FC44F016-DBE9-42D1-A443-15B11F9E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33675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02 · BUL</a:t>
            </a:r>
          </a:p>
        </p:txBody>
      </p:sp>
      <p:sp>
        <p:nvSpPr>
          <p:cNvPr id="9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317BD033-6D1B-4053-9AB4-9E25C1BD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62375"/>
            <a:ext cx="3143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 ilgili içeriği seç</a:t>
            </a:r>
          </a:p>
        </p:txBody>
      </p:sp>
      <p:sp>
        <p:nvSpPr>
          <p:cNvPr id="1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7DD4B63D-AF3D-48F6-A3D7-144DB589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67250"/>
            <a:ext cx="3143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Vektör benzerliği + kelime eşleşmesi + hafta/faz sinyali</a:t>
            </a:r>
          </a:p>
        </p:txBody>
      </p:sp>
      <p:sp>
        <p:nvSpPr>
          <p:cNvPr id="11" name="flow-dot-3">
            <a:extLst xmlns:a="http://schemas.openxmlformats.org/drawingml/2006/main">
              <a:ext uri="{FF2B5EF4-FFF2-40B4-BE49-F238E27FC236}">
                <a16:creationId xmlns:a16="http://schemas.microsoft.com/office/drawing/2014/main" id="{E2A7DC24-8D3A-43E2-82C8-BFDF6DDB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2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15345B6D-C963-4125-9AB5-8E425C97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33675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· CEVAPLA</a:t>
            </a:r>
          </a:p>
        </p:txBody>
      </p:sp>
      <p:sp>
        <p:nvSpPr>
          <p:cNvPr id="1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5DCD214B-278B-4C67-8AD4-4AF3F3CA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62375"/>
            <a:ext cx="3143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Bağlamdan cevap üret</a:t>
            </a:r>
          </a:p>
        </p:txBody>
      </p:sp>
      <p:sp>
        <p:nvSpPr>
          <p:cNvPr id="1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AC71C6CB-3567-43BD-A2C7-43F34F62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67250"/>
            <a:ext cx="3143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Phi-3.5 Mini → kısa cevap → kaynak sayfaları</a:t>
            </a:r>
          </a:p>
        </p:txBody>
      </p:sp>
      <p:sp>
        <p:nvSpPr>
          <p:cNvPr id="15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3FADD01-18EE-4C5B-978A-887FAB97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166726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FADC8624-84F9-4B92-8E37-1EBC87DB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1442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MVP yalnızca demo değil; çalışan ve doğrulanmış bir sistem</a:t>
            </a:r>
          </a:p>
        </p:txBody>
      </p:sp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41B1AEA9-94CC-4361-B3A9-129D04F2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Gerçek proje planı PDF'i işlendi; canlı soru doğru hedefi buldu ve iki kaynak sayfasını gösterdi.</a:t>
            </a:r>
          </a:p>
        </p:txBody>
      </p:sp>
      <p:sp>
        <p:nvSpPr>
          <p:cNvPr id="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9D692754-9089-4F48-A13D-E6675052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3571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4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64CE9512-88BE-48A5-8C9D-D3BA7E85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290512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32</a:t>
            </a:r>
          </a:p>
        </p:txBody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451C31D-D1B4-42E0-94A6-6918E7A8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29051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indekslenmiş belge parçası</a:t>
            </a:r>
          </a:p>
        </p:txBody>
      </p:sp>
      <p:sp>
        <p:nvSpPr>
          <p:cNvPr id="6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7D864EFF-55D2-4E85-BBE7-9A4A3A58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0375"/>
            <a:ext cx="3571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7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15C9F9C4-CC59-46F6-8667-37A2390B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81375"/>
            <a:ext cx="290512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8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60A16326-A3BC-4BC8-9885-D2A3DC0F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48250"/>
            <a:ext cx="29051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tamamen yerel model</a:t>
            </a:r>
          </a:p>
        </p:txBody>
      </p:sp>
      <p:sp>
        <p:nvSpPr>
          <p:cNvPr id="9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75AAD41D-8B94-4A1A-A3CD-07E67CA9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3571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DFF4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1E45EA8A-9728-4CC5-B128-AC15FAEB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81375"/>
            <a:ext cx="2905125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6/6</a:t>
            </a:r>
          </a:p>
        </p:txBody>
      </p:sp>
      <p:sp>
        <p:nvSpPr>
          <p:cNvPr id="11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9D473865-82C1-4436-9D7D-251D5EF1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48250"/>
            <a:ext cx="29051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geçen otomatik test</a:t>
            </a:r>
          </a:p>
        </p:txBody>
      </p:sp>
      <p:sp>
        <p:nvSpPr>
          <p:cNvPr id="1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E5F60A3A-C268-447E-A12E-CAFED6B8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70561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5D847C1-A3F0-4671-AAE8-120A7151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1442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Canlı arayüz soruyu, cevabı ve kaynağı aynı ekranda gösteriyor</a:t>
            </a:r>
          </a:p>
        </p:txBody>
      </p:sp>
      <p:sp>
        <p:nvSpPr>
          <p:cNvPr id="2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9ADC4EF7-7B84-437A-8D1E-38D5F2B0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ÖRNEK SORU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95C588AE-1A4B-4C86-9242-E08166F1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5143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“Projenin 4. hafta hedefi nedir?”</a:t>
            </a:r>
          </a:p>
        </p:txBody>
      </p:sp>
      <p:sp>
        <p:nvSpPr>
          <p:cNvPr id="4" name="demo-result">
            <a:extLst xmlns:a="http://schemas.openxmlformats.org/drawingml/2006/main">
              <a:ext uri="{FF2B5EF4-FFF2-40B4-BE49-F238E27FC236}">
                <a16:creationId xmlns:a16="http://schemas.microsoft.com/office/drawing/2014/main" id="{05F60C92-1AC7-4103-80AE-1E4E1BB3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1435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Sistem Türkçe soruyu yerelde arama sorgusuna dönüştürdü ve PDF'in 11. ile 9. sayfalarını kaynak gösterdi.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F272D67A-2914-4E16-9B53-68A74F7A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71625"/>
            <a:ext cx="5743575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9c455783740cb"/>
          <a:stretch xmlns:a="http://schemas.openxmlformats.org/drawingml/2006/main"/>
        </p:blipFill>
        <p:spPr>
          <a:xfrm xmlns:a="http://schemas.openxmlformats.org/drawingml/2006/main">
            <a:off x="6143625" y="2057698"/>
            <a:ext cx="5553075" cy="3123605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7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67DEC4AA-CF95-497E-B3DB-76B93BF9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641440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5274A8AD-C71A-4412-8F54-29D4865A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SONUÇ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CC79FB6-CBB4-4773-B124-C09052D2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9906000" cy="2524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MVP hazır: yerel, kaynaklı ve sunulabilir.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88103F7E-6D46-4E21-A7A5-22DD46F4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next-step">
            <a:extLst xmlns:a="http://schemas.openxmlformats.org/drawingml/2006/main">
              <a:ext uri="{FF2B5EF4-FFF2-40B4-BE49-F238E27FC236}">
                <a16:creationId xmlns:a16="http://schemas.microsoft.com/office/drawing/2014/main" id="{A8DF01D6-D662-43B5-AF3E-01E543FF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9334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Sonraki sürüm: belge yükleme · Türkçe cevap iyileştirme · sohbet geçmişi</a:t>
            </a:r>
          </a:p>
        </p:txBody>
      </p:sp>
    </p:spTree>
    <p:extLst>
      <p:ext uri="{BB962C8B-B14F-4D97-AF65-F5344CB8AC3E}">
        <p14:creationId xmlns:p14="http://schemas.microsoft.com/office/powerpoint/2010/main" val="1391825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2026-08-03T10:44:45.0130000Z</dcterms:created>
  <dcterms:modified xsi:type="dcterms:W3CDTF">2026-08-03T10:44:45.0130000Z</dcterms:modified>
</coreProperties>
</file>